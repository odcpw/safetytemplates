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f53a5269b634b09" /><Relationship Type="http://schemas.openxmlformats.org/officeDocument/2006/relationships/extended-properties" Target="/docProps/app.xml" Id="Rd7a55f7a21504c61" /><Relationship Type="http://schemas.openxmlformats.org/officeDocument/2006/relationships/officeDocument" Target="/ppt/presentation.xml" Id="R323f0e0b2d604b5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4b32f5e22d244e9"/>
  </p:sldMasterIdLst>
  <p:notesMasterIdLst>
    <p:notesMasterId xmlns:r="http://schemas.openxmlformats.org/officeDocument/2006/relationships" r:id="Re8d9d85ea2454765"/>
  </p:notesMasterIdLst>
  <p:sldIdLst>
    <p:sldId xmlns:r="http://schemas.openxmlformats.org/officeDocument/2006/relationships" id="256" r:id="R12d56aa283ab4674"/>
    <p:sldId xmlns:r="http://schemas.openxmlformats.org/officeDocument/2006/relationships" id="257" r:id="Rd178dd6129da4dc3"/>
  </p:sldIdLst>
  <p:sldSz cx="9144000" cy="6858000"/>
  <p:notesSz cx="6858000" cy="9144000"/>
  <p:defaultTextStyle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d85e2e2c1364c2c" /><Relationship Type="http://schemas.openxmlformats.org/officeDocument/2006/relationships/slideMaster" Target="/ppt/slideMasters/slideMaster1.xml" Id="R44b32f5e22d244e9" /><Relationship Type="http://schemas.openxmlformats.org/officeDocument/2006/relationships/notesMaster" Target="/ppt/notesMasters/notesMaster1.xml" Id="Re8d9d85ea2454765" /><Relationship Type="http://schemas.openxmlformats.org/officeDocument/2006/relationships/presProps" Target="/ppt/presProps.xml" Id="Rc6d2df51e42d4165" /><Relationship Type="http://schemas.openxmlformats.org/officeDocument/2006/relationships/viewProps" Target="/ppt/viewProps.xml" Id="R4da1a3d80dff4282" /><Relationship Type="http://schemas.openxmlformats.org/officeDocument/2006/relationships/tableStyles" Target="/ppt/tableStyles.xml" Id="R145a2b9fd8a648c9" /><Relationship Type="http://schemas.openxmlformats.org/officeDocument/2006/relationships/slide" Target="/ppt/slides/slide1.xml" Id="R12d56aa283ab4674" /><Relationship Type="http://schemas.openxmlformats.org/officeDocument/2006/relationships/slide" Target="/ppt/slides/slide2.xml" Id="Rd178dd6129da4dc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dbf6922b9c8441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e209d41065e4155" /><Relationship Type="http://schemas.openxmlformats.org/officeDocument/2006/relationships/notesMaster" Target="/ppt/notesMasters/notesMaster1.xml" Id="R5062b0e8c742474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bf7879211584719" /><Relationship Type="http://schemas.openxmlformats.org/officeDocument/2006/relationships/notesMaster" Target="/ppt/notesMasters/notesMaster1.xml" Id="R7e04c54542564ee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f80ed3e5fc4200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464d59e8bb746aa" /><Relationship Type="http://schemas.openxmlformats.org/officeDocument/2006/relationships/slideLayout" Target="/ppt/slideLayouts/slideLayout1.xml" Id="R00c5eaec9a6544ec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0c5eaec9a6544ec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8434be014f4b45" /><Relationship Type="http://schemas.openxmlformats.org/officeDocument/2006/relationships/image" Target="/ppt/media/image.png" Id="Rad1c2b6b514e4d9a" /><Relationship Type="http://schemas.openxmlformats.org/officeDocument/2006/relationships/image" Target="/ppt/media/image2.png" Id="R10caf558bafc4c38" /><Relationship Type="http://schemas.openxmlformats.org/officeDocument/2006/relationships/image" Target="/ppt/media/image3.png" Id="R447511f1db944a12" /><Relationship Type="http://schemas.openxmlformats.org/officeDocument/2006/relationships/notesSlide" Target="/ppt/notesSlides/notesSlide1.xml" Id="R84f51031a816429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db4703a00245f9" /><Relationship Type="http://schemas.openxmlformats.org/officeDocument/2006/relationships/notesSlide" Target="/ppt/notesSlides/notesSlide2.xml" Id="R79a2dea40cbe42d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14C1812-69D2-4C3D-A24C-DB64E5E70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94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4040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5D396F9-9AF5-4F3E-B63C-16F4D306E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91440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FEUILLE DE ROUTE SÉCURITÉ</a:t>
            </a:r>
            <a:endParaRPr sz="22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8B52EF6-0E8D-41C3-B9DB-425271F72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91440"/>
            <a:ext cx="3733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400">
                <a:solidFill>
                  <a:srgbClr val="BBBBBB"/>
                </a:solidFill>
                <a:latin typeface="Arial"/>
                <a:ea typeface="Arial"/>
                <a:cs typeface="Arial"/>
              </a:rPr>
              <a:t>[Entreprise], [Année]</a:t>
            </a:r>
            <a:endParaRPr sz="14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A21C9F1-0A61-40D3-A961-AF5C03AB3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777240"/>
            <a:ext cx="859536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4E1A"/>
          </a:solidFill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FF6C838-C14B-41CA-AD76-EC26B3F9E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95528"/>
            <a:ext cx="82296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Vision : zéro accident et zéro maladie professionnelle</a:t>
            </a:r>
            <a:endParaRPr sz="1200"/>
          </a:p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Objectif annuel (exemple) : réduire [indicateur] de 30 % par rapport à [année de référence]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4BF7FB84-A6BE-4FF5-A59B-4D4D73EAF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1371600"/>
            <a:ext cx="26517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4040"/>
          </a:solidFill>
        </p:spPr>
      </p:sp>
      <p:pic>
        <p:nvPicPr>
          <p:cNvPr id="8" name="Image 0">
            <a:extLst xmlns:a="http://schemas.openxmlformats.org/drawingml/2006/main">
              <a:ext uri="{FF2B5EF4-FFF2-40B4-BE49-F238E27FC236}">
                <a16:creationId xmlns:a16="http://schemas.microsoft.com/office/drawing/2014/main" id="{F49ADEE2-21E7-4269-9077-88D0EDDBB91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1c2b6b514e4d9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11480" y="1508760"/>
            <a:ext cx="347472" cy="347472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909C5B5-F467-4925-9269-02D30BCC4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17320"/>
            <a:ext cx="20116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Sécurité</a:t>
            </a:r>
            <a:endParaRPr sz="13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D4D75253-2D87-4679-9079-E4018DD1E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664208"/>
            <a:ext cx="20116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CCCCCC"/>
                </a:solidFill>
                <a:latin typeface="Arial"/>
                <a:ea typeface="Arial"/>
                <a:cs typeface="Arial"/>
              </a:rPr>
              <a:t>Maintenir les équipements en état sûr</a:t>
            </a:r>
            <a:endParaRPr sz="750"/>
          </a:p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CCCCCC"/>
                </a:solidFill>
                <a:latin typeface="Arial"/>
                <a:ea typeface="Arial"/>
                <a:cs typeface="Arial"/>
              </a:rPr>
              <a:t>et maîtriser les risques.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73EE6A85-A153-4D8C-A7B8-F26E57370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1371600"/>
            <a:ext cx="26517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4040"/>
          </a:solidFill>
        </p:spPr>
      </p:sp>
      <p:pic>
        <p:nvPicPr>
          <p:cNvPr id="12" name="Image 1">
            <a:extLst xmlns:a="http://schemas.openxmlformats.org/drawingml/2006/main">
              <a:ext uri="{FF2B5EF4-FFF2-40B4-BE49-F238E27FC236}">
                <a16:creationId xmlns:a16="http://schemas.microsoft.com/office/drawing/2014/main" id="{CACF330C-CC3A-4699-BCF7-A4E62C02822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caf558bafc4c3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383280" y="1508760"/>
            <a:ext cx="347472" cy="347472"/>
          </a:xfrm>
          <a:prstGeom xmlns:a="http://schemas.openxmlformats.org/drawingml/2006/main" prst="rect">
            <a:avLst/>
          </a:prstGeom>
        </p:spPr>
      </p:pic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DDDC3B33-D6BB-4B32-85B6-038474D3F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4760" y="1417320"/>
            <a:ext cx="20116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Santé</a:t>
            </a:r>
            <a:endParaRPr sz="1300"/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1C7A37F7-FEA2-480A-BD8C-B082A9357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4760" y="1664208"/>
            <a:ext cx="20116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CCCCCC"/>
                </a:solidFill>
                <a:latin typeface="Arial"/>
                <a:ea typeface="Arial"/>
                <a:cs typeface="Arial"/>
              </a:rPr>
              <a:t>Protéger la santé et accompagner</a:t>
            </a:r>
            <a:endParaRPr sz="750"/>
          </a:p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CCCCCC"/>
                </a:solidFill>
                <a:latin typeface="Arial"/>
                <a:ea typeface="Arial"/>
                <a:cs typeface="Arial"/>
              </a:rPr>
              <a:t>le retour au travail en sécurité.</a:t>
            </a:r>
          </a:p>
        </p:txBody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D269E2EB-7C73-4E1F-B7C5-A5A0E267D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371600"/>
            <a:ext cx="26517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4040"/>
          </a:solidFill>
        </p:spPr>
      </p:sp>
      <p:pic>
        <p:nvPicPr>
          <p:cNvPr id="16" name="Image 2">
            <a:extLst xmlns:a="http://schemas.openxmlformats.org/drawingml/2006/main">
              <a:ext uri="{FF2B5EF4-FFF2-40B4-BE49-F238E27FC236}">
                <a16:creationId xmlns:a16="http://schemas.microsoft.com/office/drawing/2014/main" id="{0F9D89C6-8FB3-44DF-A89A-93F3DDF690E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7511f1db944a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55080" y="1508760"/>
            <a:ext cx="347472" cy="347472"/>
          </a:xfrm>
          <a:prstGeom xmlns:a="http://schemas.openxmlformats.org/drawingml/2006/main" prst="rect">
            <a:avLst/>
          </a:prstGeom>
        </p:spPr>
      </p:pic>
      <p:sp>
        <p:nvSpPr>
          <p:cNvPr id="17" name="Text 12">
            <a:extLst xmlns:a="http://schemas.openxmlformats.org/drawingml/2006/main">
              <a:ext uri="{FF2B5EF4-FFF2-40B4-BE49-F238E27FC236}">
                <a16:creationId xmlns:a16="http://schemas.microsoft.com/office/drawing/2014/main" id="{6E8BDFEE-1BCB-4730-9655-05173E211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20116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Processus de gestion</a:t>
            </a:r>
            <a:endParaRPr sz="1300"/>
          </a:p>
        </p:txBody>
      </p:sp>
      <p:sp>
        <p:nvSpPr>
          <p:cNvPr id="18" name="Text 13">
            <a:extLst xmlns:a="http://schemas.openxmlformats.org/drawingml/2006/main">
              <a:ext uri="{FF2B5EF4-FFF2-40B4-BE49-F238E27FC236}">
                <a16:creationId xmlns:a16="http://schemas.microsoft.com/office/drawing/2014/main" id="{B0F74667-F11C-42DB-A8F6-56061C73D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664208"/>
            <a:ext cx="20116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CCCCCC"/>
                </a:solidFill>
                <a:latin typeface="Arial"/>
                <a:ea typeface="Arial"/>
                <a:cs typeface="Arial"/>
              </a:rPr>
              <a:t>Planifier les mesures, désigner un</a:t>
            </a:r>
            <a:endParaRPr sz="750"/>
          </a:p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CCCCCC"/>
                </a:solidFill>
                <a:latin typeface="Arial"/>
                <a:ea typeface="Arial"/>
                <a:cs typeface="Arial"/>
              </a:rPr>
              <a:t>responsable et vérifier leur réalisation.</a:t>
            </a:r>
          </a:p>
        </p:txBody>
      </p:sp>
      <p:sp>
        <p:nvSpPr>
          <p:cNvPr id="19" name="Text 14">
            <a:extLst xmlns:a="http://schemas.openxmlformats.org/drawingml/2006/main">
              <a:ext uri="{FF2B5EF4-FFF2-40B4-BE49-F238E27FC236}">
                <a16:creationId xmlns:a16="http://schemas.microsoft.com/office/drawing/2014/main" id="{E9027399-C0DC-4474-BCFD-6B79B3525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2011680"/>
            <a:ext cx="24765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i="1">
                <a:solidFill>
                  <a:srgbClr val="404040"/>
                </a:solidFill>
                <a:latin typeface="Arial"/>
                <a:ea typeface="Arial"/>
                <a:cs typeface="Arial"/>
              </a:rPr>
              <a:t>Principaux dangers et processus</a:t>
            </a:r>
            <a:endParaRPr sz="900"/>
          </a:p>
        </p:txBody>
      </p:sp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64F2D974-950E-4A3A-BDB8-4A29E6491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011680"/>
            <a:ext cx="28575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 i="1">
                <a:solidFill>
                  <a:srgbClr val="999999"/>
                </a:solidFill>
                <a:latin typeface="Arial"/>
                <a:ea typeface="Arial"/>
                <a:cs typeface="Arial"/>
              </a:rPr>
              <a:t>Exemples à adapter à votre entreprise</a:t>
            </a:r>
            <a:endParaRPr sz="800"/>
          </a:p>
        </p:txBody>
      </p:sp>
      <p:graphicFrame>
        <p:nvGraphicFramePr>
          <p:cNvPr id="27" name="Table 0">
            <a:extLst xmlns:a="http://schemas.openxmlformats.org/drawingml/2006/main">
              <a:ext uri="{FF2B5EF4-FFF2-40B4-BE49-F238E27FC236}">
                <a16:creationId xmlns:a16="http://schemas.microsoft.com/office/drawing/2014/main" id="{88723915-5FCB-4C40-8C4A-D1CFFF8D2338}"/>
              </a:ext>
            </a:extLst>
          </p:cNvPr>
          <p:cNvGraphicFramePr/>
          <p:nvPr/>
        </p:nvGraphicFramePr>
        <p:xfrm>
          <a:off xmlns:a="http://schemas.openxmlformats.org/drawingml/2006/main" x="274320" y="2240280"/>
          <a:ext xmlns:a="http://schemas.openxmlformats.org/drawingml/2006/main" cx="2651760" cy="914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51760"/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</a:rPr>
                        <a:t>Chutes et trébuchements</a:t>
                      </a:r>
                      <a:endParaRPr sz="9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38100" marB="381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FAE5D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</a:rPr>
                        <a:t>Outillage à main</a:t>
                      </a:r>
                      <a:endParaRPr sz="9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38100" marB="381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FAE5D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</a:rPr>
                        <a:t>Machines et installations</a:t>
                      </a:r>
                      <a:endParaRPr sz="9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38100" marB="381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FAE5D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</a:rPr>
                        <a:t>Véhicules et voies de circulation</a:t>
                      </a:r>
                      <a:endParaRPr sz="9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38100" marB="381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FAE5D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</a:rPr>
                        <a:t>Espaces confinés</a:t>
                      </a:r>
                      <a:endParaRPr sz="9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38100" marB="381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FAE5D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</a:rPr>
                        <a:t>Travail en hauteur</a:t>
                      </a:r>
                      <a:endParaRPr sz="9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38100" marB="381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FAE5D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</a:rPr>
                        <a:t>Sécurité électrique</a:t>
                      </a:r>
                      <a:endParaRPr sz="9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38100" marB="381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FAE5D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1">
            <a:extLst xmlns:a="http://schemas.openxmlformats.org/drawingml/2006/main">
              <a:ext uri="{FF2B5EF4-FFF2-40B4-BE49-F238E27FC236}">
                <a16:creationId xmlns:a16="http://schemas.microsoft.com/office/drawing/2014/main" id="{547886F0-1CA5-4B86-A300-D58DA6D42883}"/>
              </a:ext>
            </a:extLst>
          </p:cNvPr>
          <p:cNvGraphicFramePr/>
          <p:nvPr/>
        </p:nvGraphicFramePr>
        <p:xfrm>
          <a:off xmlns:a="http://schemas.openxmlformats.org/drawingml/2006/main" x="3246120" y="2240280"/>
          <a:ext xmlns:a="http://schemas.openxmlformats.org/drawingml/2006/main" cx="2651760" cy="914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51760"/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</a:rPr>
                        <a:t>Bruit</a:t>
                      </a:r>
                      <a:endParaRPr sz="9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38100" marB="381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FAE5D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</a:rPr>
                        <a:t>Poussières / fumées de soudage</a:t>
                      </a:r>
                      <a:endParaRPr sz="9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38100" marB="381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FAE5D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</a:rPr>
                        <a:t>Produits chimiques</a:t>
                      </a:r>
                      <a:endParaRPr sz="9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38100" marB="381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FAE5D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</a:rPr>
                        <a:t>Ergonomie</a:t>
                      </a:r>
                      <a:endParaRPr sz="9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38100" marB="381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FAE5D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</a:rPr>
                        <a:t>Protection de la peau</a:t>
                      </a:r>
                      <a:endParaRPr sz="9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38100" marB="381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FAE5D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</a:rPr>
                        <a:t>Stress</a:t>
                      </a:r>
                      <a:endParaRPr sz="9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38100" marB="381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FAE5D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" name="Table 2">
            <a:extLst xmlns:a="http://schemas.openxmlformats.org/drawingml/2006/main">
              <a:ext uri="{FF2B5EF4-FFF2-40B4-BE49-F238E27FC236}">
                <a16:creationId xmlns:a16="http://schemas.microsoft.com/office/drawing/2014/main" id="{AEC4E94E-F07E-4180-8306-DBF3B6B41029}"/>
              </a:ext>
            </a:extLst>
          </p:cNvPr>
          <p:cNvGraphicFramePr/>
          <p:nvPr/>
        </p:nvGraphicFramePr>
        <p:xfrm>
          <a:off xmlns:a="http://schemas.openxmlformats.org/drawingml/2006/main" x="6217920" y="2240280"/>
          <a:ext xmlns:a="http://schemas.openxmlformats.org/drawingml/2006/main" cx="2651760" cy="914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51760"/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</a:rPr>
                        <a:t>Traitement des événements</a:t>
                      </a:r>
                      <a:endParaRPr sz="9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38100" marB="381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FAE5D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</a:rPr>
                        <a:t>Entretiens de sécurité</a:t>
                      </a:r>
                      <a:endParaRPr sz="9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38100" marB="381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FAE5D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</a:rPr>
                        <a:t>Détermination des dangers</a:t>
                      </a:r>
                      <a:endParaRPr sz="9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38100" marB="381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FAE5D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</a:rPr>
                        <a:t>Formation et communication</a:t>
                      </a:r>
                      <a:endParaRPr sz="9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38100" marB="381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FAE5D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</a:rPr>
                        <a:t>Permis de travail</a:t>
                      </a:r>
                      <a:endParaRPr sz="9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38100" marB="381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FAE5D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</a:rPr>
                        <a:t>Entreprises tierces</a:t>
                      </a:r>
                      <a:endParaRPr sz="9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38100" marB="381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FAE5D3"/>
                    </a:solidFill>
                  </a:tcPr>
                </a:tc>
              </a:tr>
            </a:tbl>
          </a:graphicData>
        </a:graphic>
      </p:graphicFrame>
      <p:sp>
        <p:nvSpPr>
          <p:cNvPr id="24" name="Shape 16">
            <a:extLst xmlns:a="http://schemas.openxmlformats.org/drawingml/2006/main">
              <a:ext uri="{FF2B5EF4-FFF2-40B4-BE49-F238E27FC236}">
                <a16:creationId xmlns:a16="http://schemas.microsoft.com/office/drawing/2014/main" id="{2D2EB04E-DA53-4A21-BF72-5F0A829E5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4800600"/>
            <a:ext cx="859536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5D3"/>
          </a:solidFill>
        </p:spPr>
      </p:sp>
      <p:sp>
        <p:nvSpPr>
          <p:cNvPr id="25" name="Text 17">
            <a:extLst xmlns:a="http://schemas.openxmlformats.org/drawingml/2006/main">
              <a:ext uri="{FF2B5EF4-FFF2-40B4-BE49-F238E27FC236}">
                <a16:creationId xmlns:a16="http://schemas.microsoft.com/office/drawing/2014/main" id="{B2E92615-5F8C-4F1D-8D49-0BDE41FE6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29175"/>
            <a:ext cx="82296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333333"/>
                </a:solidFill>
                <a:latin typeface="Arial"/>
                <a:ea typeface="Arial"/>
                <a:cs typeface="Arial"/>
              </a:rPr>
              <a:t>Résultats : nombre d’accidents, jours d’absence par accident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333333"/>
                </a:solidFill>
                <a:latin typeface="Arial"/>
                <a:ea typeface="Arial"/>
                <a:cs typeface="Arial"/>
              </a:rPr>
              <a:t>Prévention : entretiens de sécurité par responsable, signalements de presque-accidents et de situations dangereuses, constats d’audit</a:t>
            </a:r>
          </a:p>
        </p:txBody>
      </p:sp>
      <p:sp>
        <p:nvSpPr>
          <p:cNvPr id="26" name="Text 18">
            <a:extLst xmlns:a="http://schemas.openxmlformats.org/drawingml/2006/main">
              <a:ext uri="{FF2B5EF4-FFF2-40B4-BE49-F238E27FC236}">
                <a16:creationId xmlns:a16="http://schemas.microsoft.com/office/drawing/2014/main" id="{146A86B4-01CB-43AF-A560-8BBDB401F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6400800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00">
                <a:solidFill>
                  <a:srgbClr val="AAAAAA"/>
                </a:solidFill>
                <a:latin typeface="Arial"/>
                <a:ea typeface="Arial"/>
                <a:cs typeface="Arial"/>
              </a:rPr>
              <a:t>OPA art. 3–10, LAA art. 82, directive CFST 6508</a:t>
            </a:r>
            <a:endParaRPr sz="700"/>
          </a:p>
        </p:txBody>
      </p:sp>
    </p:spTree>
    <p:extLst>
      <p:ext uri="{BB962C8B-B14F-4D97-AF65-F5344CB8AC3E}">
        <p14:creationId xmlns:p14="http://schemas.microsoft.com/office/powerpoint/2010/main" val="167969675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2487DAB8-CAA4-4960-9EDA-0762068D7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94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4040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191A64F-AB63-4DC2-B713-9A520F0BB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91440"/>
            <a:ext cx="8229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Structure du plan de travail</a:t>
            </a:r>
            <a:endParaRPr sz="2200"/>
          </a:p>
        </p:txBody>
      </p:sp>
      <p:graphicFrame>
        <p:nvGraphicFramePr>
          <p:cNvPr id="9" name="Table 0">
            <a:extLst xmlns:a="http://schemas.openxmlformats.org/drawingml/2006/main">
              <a:ext uri="{FF2B5EF4-FFF2-40B4-BE49-F238E27FC236}">
                <a16:creationId xmlns:a16="http://schemas.microsoft.com/office/drawing/2014/main" id="{9388E038-2F6C-4FAB-AF7C-0BA4CCA81D31}"/>
              </a:ext>
            </a:extLst>
          </p:cNvPr>
          <p:cNvGraphicFramePr/>
          <p:nvPr/>
        </p:nvGraphicFramePr>
        <p:xfrm>
          <a:off xmlns:a="http://schemas.openxmlformats.org/drawingml/2006/main" x="457200" y="822960"/>
          <a:ext xmlns:a="http://schemas.openxmlformats.org/drawingml/2006/main" cx="8229600" cy="914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5943600"/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Colonne</a:t>
                      </a:r>
                      <a:endParaRPr sz="1100"/>
                    </a:p>
                  </a:txBody>
                  <a:tcPr marL="76200" marR="76200" marT="50800" marB="508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C04E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Contenu</a:t>
                      </a:r>
                      <a:endParaRPr sz="1100"/>
                    </a:p>
                  </a:txBody>
                  <a:tcPr marL="76200" marR="76200" marT="50800" marB="508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C04E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 : Thème</a:t>
                      </a:r>
                      <a:endParaRPr sz="10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50800" marB="508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FAE5D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Principaux dangers et processus de gestion de la feuille de route</a:t>
                      </a:r>
                      <a:endParaRPr sz="10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50800" marB="508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 : Personnes exposées</a:t>
                      </a:r>
                      <a:endParaRPr sz="10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50800" marB="508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FAE5D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Recenser les personnes exposées dans la feuille « Exposition »</a:t>
                      </a:r>
                      <a:endParaRPr sz="10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50800" marB="508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 : Fréquence d’exposition</a:t>
                      </a:r>
                      <a:endParaRPr sz="10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50800" marB="508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FAE5D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Élevée / Moyenne / Faible</a:t>
                      </a:r>
                      <a:endParaRPr sz="10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50800" marB="508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 : Étendue du dommage</a:t>
                      </a:r>
                      <a:endParaRPr sz="10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50800" marB="508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FAE5D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Conséquences d’un accident ou d’une atteinte à la santé</a:t>
                      </a:r>
                      <a:endParaRPr sz="10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50800" marB="508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 : Risque</a:t>
                      </a:r>
                      <a:endParaRPr sz="10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50800" marB="508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FAE5D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Évaluer l’exposition et l’étendue du dommage dans la feuille « Matrice de risque »</a:t>
                      </a:r>
                      <a:endParaRPr sz="10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50800" marB="508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 : Mesures / Objectif</a:t>
                      </a:r>
                      <a:endParaRPr sz="10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50800" marB="508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FAE5D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Mesures ou objectifs de protection (principe STOP)</a:t>
                      </a:r>
                      <a:endParaRPr sz="10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50800" marB="508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G+ : Mesures trimestrielles</a:t>
                      </a:r>
                      <a:endParaRPr sz="10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50800" marB="508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  <a:solidFill>
                      <a:srgbClr val="FAE5D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Planifier des mesures par trimestre. Colorez les cellules en vert lorsque les mesures sont terminées.</a:t>
                      </a:r>
                      <a:endParaRPr sz="10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6200" marR="76200" marT="50800" marB="50800">
                    <a:lnL w="6350" cmpd="sng">
                      <a:solidFill>
                        <a:srgbClr val="D9D9D9"/>
                      </a:solidFill>
                      <a:prstDash val="solid"/>
                    </a:lnL>
                    <a:lnR w="6350" cmpd="sng">
                      <a:solidFill>
                        <a:srgbClr val="D9D9D9"/>
                      </a:solidFill>
                      <a:prstDash val="solid"/>
                    </a:lnR>
                    <a:lnT w="6350" cmpd="sng">
                      <a:solidFill>
                        <a:srgbClr val="D9D9D9"/>
                      </a:solidFill>
                      <a:prstDash val="solid"/>
                    </a:lnT>
                    <a:lnB w="6350" cmpd="sng">
                      <a:solidFill>
                        <a:srgbClr val="D9D9D9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06603A37-A38E-456B-B307-8D9F52853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389120"/>
            <a:ext cx="8229600" cy="1280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</p:spPr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87D4B899-2397-4A9F-AB7E-4D7928DD3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480560"/>
            <a:ext cx="7772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404040"/>
                </a:solidFill>
                <a:latin typeface="Arial"/>
                <a:ea typeface="Arial"/>
                <a:cs typeface="Arial"/>
              </a:rPr>
              <a:t>Principe STOP pour les mesures de protection</a:t>
            </a:r>
            <a:endParaRPr sz="110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D50D15A4-5DC9-406D-95A8-DA4C051F5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846320"/>
            <a:ext cx="77724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C04E1A"/>
                </a:solidFill>
                <a:latin typeface="Arial"/>
                <a:ea typeface="Arial"/>
                <a:cs typeface="Arial"/>
              </a:rPr>
              <a:t>S : Remplacer ou éliminer le danger    T : Mesures techniques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C04E1A"/>
                </a:solidFill>
                <a:latin typeface="Arial"/>
                <a:ea typeface="Arial"/>
                <a:cs typeface="Arial"/>
              </a:rPr>
              <a:t>O : Mesures organisationnelles    P : Équipements de protection individuelle</a:t>
            </a:r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46F8E462-7812-4553-BB16-49C47B9DC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936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4FB8C4"/>
                </a:solidFill>
                <a:latin typeface="Arial"/>
                <a:ea typeface="Arial"/>
                <a:cs typeface="Arial"/>
              </a:rPr>
              <a:t>Plan de travail détaillé : Template_Safety_Roadmap_FR.xlsx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27573694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2026-10-12T10:46:06.4000000Z</dcterms:created>
  <dcterms:modified xsi:type="dcterms:W3CDTF">2026-10-12T10:46:06.4000000Z</dcterms:modified>
</coreProperties>
</file>