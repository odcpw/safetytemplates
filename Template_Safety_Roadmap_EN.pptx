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c6fe2d32574419b" /><Relationship Type="http://schemas.openxmlformats.org/officeDocument/2006/relationships/extended-properties" Target="/docProps/app.xml" Id="R289ff14871774832" /><Relationship Type="http://schemas.openxmlformats.org/officeDocument/2006/relationships/officeDocument" Target="/ppt/presentation.xml" Id="R23c2e663f128463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19b2e8f3bfe4fde"/>
  </p:sldMasterIdLst>
  <p:notesMasterIdLst>
    <p:notesMasterId xmlns:r="http://schemas.openxmlformats.org/officeDocument/2006/relationships" r:id="R82dc241672804e7a"/>
  </p:notesMasterIdLst>
  <p:sldIdLst>
    <p:sldId xmlns:r="http://schemas.openxmlformats.org/officeDocument/2006/relationships" id="256" r:id="R3e4a27447d264065"/>
    <p:sldId xmlns:r="http://schemas.openxmlformats.org/officeDocument/2006/relationships" id="257" r:id="R99e28f94d6e440d9"/>
  </p:sldIdLst>
  <p:sldSz cx="9144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301dcfc294546ca" /><Relationship Type="http://schemas.openxmlformats.org/officeDocument/2006/relationships/slideMaster" Target="/ppt/slideMasters/slideMaster1.xml" Id="R719b2e8f3bfe4fde" /><Relationship Type="http://schemas.openxmlformats.org/officeDocument/2006/relationships/notesMaster" Target="/ppt/notesMasters/notesMaster1.xml" Id="R82dc241672804e7a" /><Relationship Type="http://schemas.openxmlformats.org/officeDocument/2006/relationships/presProps" Target="/ppt/presProps.xml" Id="Rb39ba5ba5bb54874" /><Relationship Type="http://schemas.openxmlformats.org/officeDocument/2006/relationships/viewProps" Target="/ppt/viewProps.xml" Id="Rbdbfe1f7c8564c2f" /><Relationship Type="http://schemas.openxmlformats.org/officeDocument/2006/relationships/tableStyles" Target="/ppt/tableStyles.xml" Id="R84c200f5f75a4026" /><Relationship Type="http://schemas.openxmlformats.org/officeDocument/2006/relationships/slide" Target="/ppt/slides/slide1.xml" Id="R3e4a27447d264065" /><Relationship Type="http://schemas.openxmlformats.org/officeDocument/2006/relationships/slide" Target="/ppt/slides/slide2.xml" Id="R99e28f94d6e440d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0699c00ff354f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ce934eca0c34909" /><Relationship Type="http://schemas.openxmlformats.org/officeDocument/2006/relationships/notesMaster" Target="/ppt/notesMasters/notesMaster1.xml" Id="Rfb52c2af273942a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277307fcda74a94" /><Relationship Type="http://schemas.openxmlformats.org/officeDocument/2006/relationships/notesMaster" Target="/ppt/notesMasters/notesMaster1.xml" Id="Reb427f25f8474a2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13e33db96d4caa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fc956fb7654a28" /><Relationship Type="http://schemas.openxmlformats.org/officeDocument/2006/relationships/slideLayout" Target="/ppt/slideLayouts/slideLayout1.xml" Id="Rcf206d30342e4209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206d30342e4209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9e4bc816e14a6e" /><Relationship Type="http://schemas.openxmlformats.org/officeDocument/2006/relationships/image" Target="/ppt/media/image.png" Id="Rc0df83653b28431f" /><Relationship Type="http://schemas.openxmlformats.org/officeDocument/2006/relationships/image" Target="/ppt/media/image2.png" Id="R86809dfb13c8434c" /><Relationship Type="http://schemas.openxmlformats.org/officeDocument/2006/relationships/image" Target="/ppt/media/image3.png" Id="R1df710abbb4f45df" /><Relationship Type="http://schemas.openxmlformats.org/officeDocument/2006/relationships/notesSlide" Target="/ppt/notesSlides/notesSlide1.xml" Id="Rd4f8a27d4f08405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aab5a83faf4063" /><Relationship Type="http://schemas.openxmlformats.org/officeDocument/2006/relationships/notesSlide" Target="/ppt/notesSlides/notesSlide2.xml" Id="R1ddff5bd3b834a1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14C1812-69D2-4C3D-A24C-DB64E5E70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94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404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5D396F9-9AF5-4F3E-B63C-16F4D306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9144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SAFETY ROADMAP</a:t>
            </a:r>
            <a:endParaRPr sz="2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8B52EF6-0E8D-41C3-B9DB-425271F7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91440"/>
            <a:ext cx="411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400">
                <a:solidFill>
                  <a:srgbClr val="BBBBBB"/>
                </a:solidFill>
                <a:latin typeface="Arial"/>
                <a:ea typeface="Arial"/>
                <a:cs typeface="Arial"/>
              </a:rPr>
              <a:t>[Company], [Year]</a:t>
            </a:r>
            <a:endParaRPr sz="14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A21C9F1-0A61-40D3-A961-AF5C03AB3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777240"/>
            <a:ext cx="85953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4E1A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FF6C838-C14B-41CA-AD76-EC26B3F9E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95528"/>
            <a:ext cx="8229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Vision: Zero accidents and occupational diseases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Annual target (example): 30% reduction in [metric] vs [baseline year]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BF7FB84-A6BE-4FF5-A59B-4D4D73EA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371600"/>
            <a:ext cx="26517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4040"/>
          </a:solidFill>
        </p:spPr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D6104E1B-58B7-457F-B99B-D086D8D2415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f83653b2843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1480" y="1508760"/>
            <a:ext cx="347472" cy="347472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909C5B5-F467-4925-9269-02D30BCC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1732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Safety</a:t>
            </a:r>
            <a:endParaRPr sz="13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D4D75253-2D87-4679-9079-E4018DD1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64208"/>
            <a:ext cx="20116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CCCCCC"/>
                </a:solidFill>
                <a:latin typeface="Arial"/>
                <a:ea typeface="Arial"/>
                <a:cs typeface="Arial"/>
              </a:rPr>
              <a:t>Maintain safe equipment</a:t>
            </a:r>
            <a:endParaRPr sz="750"/>
          </a:p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CCCCCC"/>
                </a:solidFill>
                <a:latin typeface="Arial"/>
                <a:ea typeface="Arial"/>
                <a:cs typeface="Arial"/>
              </a:rPr>
              <a:t>and control workplace risks.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3EE6A85-A153-4D8C-A7B8-F26E5737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371600"/>
            <a:ext cx="26517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4040"/>
          </a:solidFill>
        </p:spPr>
      </p:sp>
      <p:pic>
        <p:nvPicPr>
          <p:cNvPr id="12" name="Image 1">
            <a:extLst xmlns:a="http://schemas.openxmlformats.org/drawingml/2006/main">
              <a:ext uri="{FF2B5EF4-FFF2-40B4-BE49-F238E27FC236}">
                <a16:creationId xmlns:a16="http://schemas.microsoft.com/office/drawing/2014/main" id="{34209968-1B9D-459F-9E59-06967E21F4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809dfb13c843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83280" y="1508760"/>
            <a:ext cx="347472" cy="347472"/>
          </a:xfrm>
          <a:prstGeom xmlns:a="http://schemas.openxmlformats.org/drawingml/2006/main" prst="rect">
            <a:avLst/>
          </a:prstGeom>
        </p:spPr>
      </p:pic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DDDC3B33-D6BB-4B32-85B6-038474D3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0" y="141732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Health</a:t>
            </a:r>
            <a:endParaRPr sz="13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1C7A37F7-FEA2-480A-BD8C-B082A935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0" y="1664208"/>
            <a:ext cx="20116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CCCCCC"/>
                </a:solidFill>
                <a:latin typeface="Arial"/>
                <a:ea typeface="Arial"/>
                <a:cs typeface="Arial"/>
              </a:rPr>
              <a:t>Protect health and support</a:t>
            </a:r>
            <a:endParaRPr sz="750"/>
          </a:p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CCCCCC"/>
                </a:solidFill>
                <a:latin typeface="Arial"/>
                <a:ea typeface="Arial"/>
                <a:cs typeface="Arial"/>
              </a:rPr>
              <a:t>a safe return to work.</a:t>
            </a:r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D269E2EB-7C73-4E1F-B7C5-A5A0E267D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371600"/>
            <a:ext cx="26517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4040"/>
          </a:solidFill>
        </p:spPr>
      </p:sp>
      <p:pic>
        <p:nvPicPr>
          <p:cNvPr id="16" name="Image 2">
            <a:extLst xmlns:a="http://schemas.openxmlformats.org/drawingml/2006/main">
              <a:ext uri="{FF2B5EF4-FFF2-40B4-BE49-F238E27FC236}">
                <a16:creationId xmlns:a16="http://schemas.microsoft.com/office/drawing/2014/main" id="{831D4E55-7701-4B37-B522-548D473AEB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f710abbb4f45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55080" y="1508760"/>
            <a:ext cx="347472" cy="347472"/>
          </a:xfrm>
          <a:prstGeom xmlns:a="http://schemas.openxmlformats.org/drawingml/2006/main" prst="rect">
            <a:avLst/>
          </a:prstGeom>
        </p:spPr>
      </p:pic>
      <p:sp>
        <p:nvSpPr>
          <p:cNvPr id="17" name="Text 12">
            <a:extLst xmlns:a="http://schemas.openxmlformats.org/drawingml/2006/main">
              <a:ext uri="{FF2B5EF4-FFF2-40B4-BE49-F238E27FC236}">
                <a16:creationId xmlns:a16="http://schemas.microsoft.com/office/drawing/2014/main" id="{6E8BDFEE-1BCB-4730-9655-05173E211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Support processes</a:t>
            </a:r>
            <a:endParaRPr sz="1300"/>
          </a:p>
        </p:txBody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B0F74667-F11C-42DB-A8F6-56061C73D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664208"/>
            <a:ext cx="20116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CCCCCC"/>
                </a:solidFill>
                <a:latin typeface="Arial"/>
                <a:ea typeface="Arial"/>
                <a:cs typeface="Arial"/>
              </a:rPr>
              <a:t>Plan actions, assign responsibility</a:t>
            </a:r>
            <a:endParaRPr sz="750"/>
          </a:p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CCCCCC"/>
                </a:solidFill>
                <a:latin typeface="Arial"/>
                <a:ea typeface="Arial"/>
                <a:cs typeface="Arial"/>
              </a:rPr>
              <a:t>and check completion.</a:t>
            </a:r>
          </a:p>
        </p:txBody>
      </p:sp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E9027399-C0DC-4474-BCFD-6B79B3525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2011680"/>
            <a:ext cx="24765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i="1">
                <a:solidFill>
                  <a:srgbClr val="404040"/>
                </a:solidFill>
                <a:latin typeface="Arial"/>
                <a:ea typeface="Arial"/>
                <a:cs typeface="Arial"/>
              </a:rPr>
              <a:t>Main hazards and processes</a:t>
            </a:r>
            <a:endParaRPr sz="90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64F2D974-950E-4A3A-BDB8-4A29E649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011680"/>
            <a:ext cx="28575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i="1">
                <a:solidFill>
                  <a:srgbClr val="999999"/>
                </a:solidFill>
                <a:latin typeface="Arial"/>
                <a:ea typeface="Arial"/>
                <a:cs typeface="Arial"/>
              </a:rPr>
              <a:t>Examples: adapt to your company</a:t>
            </a:r>
            <a:endParaRPr sz="800"/>
          </a:p>
        </p:txBody>
      </p:sp>
      <p:graphicFrame>
        <p:nvGraphicFramePr>
          <p:cNvPr id="27" name="Table 0">
            <a:extLst xmlns:a="http://schemas.openxmlformats.org/drawingml/2006/main">
              <a:ext uri="{FF2B5EF4-FFF2-40B4-BE49-F238E27FC236}">
                <a16:creationId xmlns:a16="http://schemas.microsoft.com/office/drawing/2014/main" id="{A4549DFB-6511-4B11-8F08-228AE63E54E3}"/>
              </a:ext>
            </a:extLst>
          </p:cNvPr>
          <p:cNvGraphicFramePr/>
          <p:nvPr/>
        </p:nvGraphicFramePr>
        <p:xfrm>
          <a:off xmlns:a="http://schemas.openxmlformats.org/drawingml/2006/main" x="274320" y="2240280"/>
          <a:ext xmlns:a="http://schemas.openxmlformats.org/drawingml/2006/main" cx="265176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51760"/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Falls and trips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Hand tools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Machines and equipment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Vehicles and traffic routes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Confined spaces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Work at height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Electrical safety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1">
            <a:extLst xmlns:a="http://schemas.openxmlformats.org/drawingml/2006/main">
              <a:ext uri="{FF2B5EF4-FFF2-40B4-BE49-F238E27FC236}">
                <a16:creationId xmlns:a16="http://schemas.microsoft.com/office/drawing/2014/main" id="{6A5ECA0A-24F0-422D-ABB4-82EE044DBC17}"/>
              </a:ext>
            </a:extLst>
          </p:cNvPr>
          <p:cNvGraphicFramePr/>
          <p:nvPr/>
        </p:nvGraphicFramePr>
        <p:xfrm>
          <a:off xmlns:a="http://schemas.openxmlformats.org/drawingml/2006/main" x="3246120" y="2240280"/>
          <a:ext xmlns:a="http://schemas.openxmlformats.org/drawingml/2006/main" cx="265176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51760"/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Noise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Dust / welding fumes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Chemicals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Ergonomics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Skin protection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Stress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2">
            <a:extLst xmlns:a="http://schemas.openxmlformats.org/drawingml/2006/main">
              <a:ext uri="{FF2B5EF4-FFF2-40B4-BE49-F238E27FC236}">
                <a16:creationId xmlns:a16="http://schemas.microsoft.com/office/drawing/2014/main" id="{8F5052EF-69AA-47BC-A024-49B70D9AD5EA}"/>
              </a:ext>
            </a:extLst>
          </p:cNvPr>
          <p:cNvGraphicFramePr/>
          <p:nvPr/>
        </p:nvGraphicFramePr>
        <p:xfrm>
          <a:off xmlns:a="http://schemas.openxmlformats.org/drawingml/2006/main" x="6217920" y="2240280"/>
          <a:ext xmlns:a="http://schemas.openxmlformats.org/drawingml/2006/main" cx="265176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51760"/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Incident handling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Safety conversations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Hazard identification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Training and communication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Permit to work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Contractor management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</a:tbl>
          </a:graphicData>
        </a:graphic>
      </p:graphicFrame>
      <p:sp>
        <p:nvSpPr>
          <p:cNvPr id="24" name="Shape 16">
            <a:extLst xmlns:a="http://schemas.openxmlformats.org/drawingml/2006/main">
              <a:ext uri="{FF2B5EF4-FFF2-40B4-BE49-F238E27FC236}">
                <a16:creationId xmlns:a16="http://schemas.microsoft.com/office/drawing/2014/main" id="{2D2EB04E-DA53-4A21-BF72-5F0A829E5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4800600"/>
            <a:ext cx="859536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5D3"/>
          </a:solidFill>
        </p:spPr>
      </p:sp>
      <p:sp>
        <p:nvSpPr>
          <p:cNvPr id="25" name="Text 17">
            <a:extLst xmlns:a="http://schemas.openxmlformats.org/drawingml/2006/main">
              <a:ext uri="{FF2B5EF4-FFF2-40B4-BE49-F238E27FC236}">
                <a16:creationId xmlns:a16="http://schemas.microsoft.com/office/drawing/2014/main" id="{B2E92615-5F8C-4F1D-8D49-0BDE41FE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29175"/>
            <a:ext cx="822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Results: accident count, lost days per accident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Prevention: safety conversations per manager, reports of near misses and unsafe situations, audit findings</a:t>
            </a:r>
          </a:p>
        </p:txBody>
      </p:sp>
      <p:sp>
        <p:nvSpPr>
          <p:cNvPr id="26" name="Text 18">
            <a:extLst xmlns:a="http://schemas.openxmlformats.org/drawingml/2006/main">
              <a:ext uri="{FF2B5EF4-FFF2-40B4-BE49-F238E27FC236}">
                <a16:creationId xmlns:a16="http://schemas.microsoft.com/office/drawing/2014/main" id="{146A86B4-01CB-43AF-A560-8BBDB401F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640080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>
                <a:solidFill>
                  <a:srgbClr val="AAAAAA"/>
                </a:solidFill>
                <a:latin typeface="Arial"/>
                <a:ea typeface="Arial"/>
                <a:cs typeface="Arial"/>
              </a:rPr>
              <a:t>VUV Arts. 3–10, UVG Art. 82, FCOS Directive 6508</a:t>
            </a:r>
            <a:endParaRPr sz="700"/>
          </a:p>
        </p:txBody>
      </p:sp>
    </p:spTree>
    <p:extLst>
      <p:ext uri="{BB962C8B-B14F-4D97-AF65-F5344CB8AC3E}">
        <p14:creationId xmlns:p14="http://schemas.microsoft.com/office/powerpoint/2010/main" val="16796967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487DAB8-CAA4-4960-9EDA-0762068D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94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404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191A64F-AB63-4DC2-B713-9A520F0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91440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Workplan structure</a:t>
            </a:r>
            <a:endParaRPr sz="2200"/>
          </a:p>
        </p:txBody>
      </p:sp>
      <p:graphicFrame>
        <p:nvGraphicFramePr>
          <p:cNvPr id="9" name="Table 0">
            <a:extLst xmlns:a="http://schemas.openxmlformats.org/drawingml/2006/main">
              <a:ext uri="{FF2B5EF4-FFF2-40B4-BE49-F238E27FC236}">
                <a16:creationId xmlns:a16="http://schemas.microsoft.com/office/drawing/2014/main" id="{7352DD2C-F465-4907-BC00-4AA441BF1C1B}"/>
              </a:ext>
            </a:extLst>
          </p:cNvPr>
          <p:cNvGraphicFramePr/>
          <p:nvPr/>
        </p:nvGraphicFramePr>
        <p:xfrm>
          <a:off xmlns:a="http://schemas.openxmlformats.org/drawingml/2006/main" x="457200" y="822960"/>
          <a:ext xmlns:a="http://schemas.openxmlformats.org/drawingml/2006/main" cx="822960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  <a:endParaRPr sz="1100"/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C04E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Content</a:t>
                      </a:r>
                      <a:endParaRPr sz="1100"/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C04E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A: Topic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Main hazards and support processes from the roadmap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B: Exposed people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Count exposed people using the Exposure sheet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C: Exposure frequency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High / Medium / Low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D: Severity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Consequences of an accident or harm to health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E: Risk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Assess exposure and severity using the Risk Matrix sheet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F: Controls / Objective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Control measures or safety objectives (STOP principle)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G+: Quarterly actions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Plan specific actions by quarter. Colour cells green when complete.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06603A37-A38E-456B-B307-8D9F5285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89120"/>
            <a:ext cx="8229600" cy="1280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D4B899-2397-4A9F-AB7E-4D7928DD3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80560"/>
            <a:ext cx="7772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404040"/>
                </a:solidFill>
                <a:latin typeface="Arial"/>
                <a:ea typeface="Arial"/>
                <a:cs typeface="Arial"/>
              </a:rPr>
              <a:t>STOP principle for control measures</a:t>
            </a:r>
            <a:endParaRPr sz="11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D50D15A4-5DC9-406D-95A8-DA4C051F5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46320"/>
            <a:ext cx="77724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C04E1A"/>
                </a:solidFill>
                <a:latin typeface="Arial"/>
                <a:ea typeface="Arial"/>
                <a:cs typeface="Arial"/>
              </a:rPr>
              <a:t>S: Substitute or eliminate the hazard    T: Technical measures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C04E1A"/>
                </a:solidFill>
                <a:latin typeface="Arial"/>
                <a:ea typeface="Arial"/>
                <a:cs typeface="Arial"/>
              </a:rPr>
              <a:t>O: Organisational measures    P: Personal protective equipment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46F8E462-7812-4553-BB16-49C47B9DC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4FB8C4"/>
                </a:solidFill>
                <a:latin typeface="Arial"/>
                <a:ea typeface="Arial"/>
                <a:cs typeface="Arial"/>
              </a:rPr>
              <a:t>Detailed workplan: Template_Safety_Roadmap_EN.xlsx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27573694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2026-10-12T10:36:33.8620000Z</dcterms:created>
  <dcterms:modified xsi:type="dcterms:W3CDTF">2026-10-12T10:36:33.8620000Z</dcterms:modified>
</coreProperties>
</file>