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f99b34b4354194" /><Relationship Type="http://schemas.openxmlformats.org/officeDocument/2006/relationships/extended-properties" Target="/docProps/app.xml" Id="R7cd28f88418a4e1c" /><Relationship Type="http://schemas.openxmlformats.org/officeDocument/2006/relationships/officeDocument" Target="/ppt/presentation.xml" Id="Re8f5b50947ac40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073c0b2804b01"/>
  </p:sldMasterIdLst>
  <p:notesMasterIdLst>
    <p:notesMasterId xmlns:r="http://schemas.openxmlformats.org/officeDocument/2006/relationships" r:id="Rf340c5f259974ce4"/>
  </p:notesMasterIdLst>
  <p:sldIdLst>
    <p:sldId xmlns:r="http://schemas.openxmlformats.org/officeDocument/2006/relationships" id="256" r:id="Rda36c2656c494244"/>
    <p:sldId xmlns:r="http://schemas.openxmlformats.org/officeDocument/2006/relationships" id="257" r:id="Rb4788a12251d405a"/>
  </p:sldIdLst>
  <p:sldSz cx="9144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ad85001914c8e" /><Relationship Type="http://schemas.openxmlformats.org/officeDocument/2006/relationships/slideMaster" Target="/ppt/slideMasters/slideMaster1.xml" Id="R908073c0b2804b01" /><Relationship Type="http://schemas.openxmlformats.org/officeDocument/2006/relationships/notesMaster" Target="/ppt/notesMasters/notesMaster1.xml" Id="Rf340c5f259974ce4" /><Relationship Type="http://schemas.openxmlformats.org/officeDocument/2006/relationships/presProps" Target="/ppt/presProps.xml" Id="R06eabd47816a45b7" /><Relationship Type="http://schemas.openxmlformats.org/officeDocument/2006/relationships/viewProps" Target="/ppt/viewProps.xml" Id="Rdda268daa9e54a32" /><Relationship Type="http://schemas.openxmlformats.org/officeDocument/2006/relationships/tableStyles" Target="/ppt/tableStyles.xml" Id="R047b07dcba2c4caf" /><Relationship Type="http://schemas.openxmlformats.org/officeDocument/2006/relationships/slide" Target="/ppt/slides/slide1.xml" Id="Rda36c2656c494244" /><Relationship Type="http://schemas.openxmlformats.org/officeDocument/2006/relationships/slide" Target="/ppt/slides/slide2.xml" Id="Rb4788a12251d40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a6a263db46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6eb08c4ebd4347" /><Relationship Type="http://schemas.openxmlformats.org/officeDocument/2006/relationships/notesMaster" Target="/ppt/notesMasters/notesMaster1.xml" Id="R5843f8c39e6844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4fdc4c51144ce" /><Relationship Type="http://schemas.openxmlformats.org/officeDocument/2006/relationships/notesMaster" Target="/ppt/notesMasters/notesMaster1.xml" Id="R397b1ef4ace84e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7ebe91931411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0f36fdeff54848" /><Relationship Type="http://schemas.openxmlformats.org/officeDocument/2006/relationships/slideLayout" Target="/ppt/slideLayouts/slideLayout1.xml" Id="R30333a0e22b7427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333a0e22b7427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537c2ed0a4a7f" /><Relationship Type="http://schemas.openxmlformats.org/officeDocument/2006/relationships/image" Target="/ppt/media/image.png" Id="R124b069b89bc4400" /><Relationship Type="http://schemas.openxmlformats.org/officeDocument/2006/relationships/image" Target="/ppt/media/image2.png" Id="R8af2d85084a54394" /><Relationship Type="http://schemas.openxmlformats.org/officeDocument/2006/relationships/image" Target="/ppt/media/image3.png" Id="Rdf2b644c02174c04" /><Relationship Type="http://schemas.openxmlformats.org/officeDocument/2006/relationships/notesSlide" Target="/ppt/notesSlides/notesSlide1.xml" Id="R8e048035fbdb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ecb4ced7417a" /><Relationship Type="http://schemas.openxmlformats.org/officeDocument/2006/relationships/notesSlide" Target="/ppt/notesSlides/notesSlide2.xml" Id="Rfe43f7362228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4C1812-69D2-4C3D-A24C-DB64E5E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D396F9-9AF5-4F3E-B63C-16F4D30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SICHERHEITSPLAN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B52EF6-0E8D-41C3-B9DB-425271F7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144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BBBBBB"/>
                </a:solidFill>
                <a:latin typeface="Arial"/>
                <a:ea typeface="Arial"/>
                <a:cs typeface="Arial"/>
              </a:rPr>
              <a:t>[Firma], [Jahr]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21C9F1-0A61-40D3-A961-AF5C03A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77240"/>
            <a:ext cx="85953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4E1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F6C838-C14B-41CA-AD76-EC26B3F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552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Vision: Keine Unfälle und Berufskrankheiten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Jahresziel (Beispiel): [Kennzahl] um 30 % gegenüber [Bezugsjahr] senken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BF7FB84-A6BE-4FF5-A59B-4D4D73E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26517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4CED1459-A9D1-427A-B060-B8978E85D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b069b89bc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50876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09C5B5-F467-4925-9269-02D30BC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Sicherheit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4D75253-2D87-4679-9079-E4018DD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6420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Arbeitsmittel in sicherem Zustand</a:t>
            </a:r>
            <a:endParaRPr sz="750"/>
          </a:p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halten und Risiken beherrschen.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3EE6A85-A153-4D8C-A7B8-F26E5737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71600"/>
            <a:ext cx="26517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</p:sp>
      <p:pic>
        <p:nvPicPr>
          <p:cNvPr id="12" name="Image 1">
            <a:extLst xmlns:a="http://schemas.openxmlformats.org/drawingml/2006/main">
              <a:ext uri="{FF2B5EF4-FFF2-40B4-BE49-F238E27FC236}">
                <a16:creationId xmlns:a16="http://schemas.microsoft.com/office/drawing/2014/main" id="{C2A00A43-3C68-4152-BEC0-26CD384F5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2d85084a5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3280" y="150876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DDC3B33-D6BB-4B32-85B6-038474D3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417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Gesundheit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C7A37F7-FEA2-480A-BD8C-B082A93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Gesundheit schützen und die sichere</a:t>
            </a:r>
            <a:endParaRPr sz="750"/>
          </a:p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Rückkehr an den Arbeitsplatz begleiten.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269E2EB-7C73-4E1F-B7C5-A5A0E267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</p:sp>
      <p:pic>
        <p:nvPicPr>
          <p:cNvPr id="16" name="Image 2">
            <a:extLst xmlns:a="http://schemas.openxmlformats.org/drawingml/2006/main">
              <a:ext uri="{FF2B5EF4-FFF2-40B4-BE49-F238E27FC236}">
                <a16:creationId xmlns:a16="http://schemas.microsoft.com/office/drawing/2014/main" id="{FEF05F34-7D9C-4162-B448-DC49C7F7A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b644c02174c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150876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E8BDFEE-1BCB-4730-9655-05173E21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Führungsprozesse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B0F74667-F11C-42DB-A8F6-56061C7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6420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Massnahmen planen, Zuständigkeiten</a:t>
            </a:r>
            <a:endParaRPr sz="750"/>
          </a:p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CCCCCC"/>
                </a:solidFill>
                <a:latin typeface="Arial"/>
                <a:ea typeface="Arial"/>
                <a:cs typeface="Arial"/>
              </a:rPr>
              <a:t>festlegen und die Umsetzung prüfen.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9027399-C0DC-4474-BCFD-6B79B35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247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Gefährdungen und Prozesse</a:t>
            </a:r>
            <a:endParaRPr sz="9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4F2D974-950E-4A3A-BDB8-4A29E649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11680"/>
            <a:ext cx="2857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999999"/>
                </a:solidFill>
                <a:latin typeface="Arial"/>
                <a:ea typeface="Arial"/>
                <a:cs typeface="Arial"/>
              </a:rPr>
              <a:t>Beispiele: an den Betrieb anpassen</a:t>
            </a:r>
            <a:endParaRPr sz="800"/>
          </a:p>
        </p:txBody>
      </p:sp>
      <p:graphicFrame>
        <p:nvGraphicFramePr>
          <p:cNvPr id="27" name="Table 0">
            <a:extLst xmlns:a="http://schemas.openxmlformats.org/drawingml/2006/main">
              <a:ext uri="{FF2B5EF4-FFF2-40B4-BE49-F238E27FC236}">
                <a16:creationId xmlns:a16="http://schemas.microsoft.com/office/drawing/2014/main" id="{63CC467B-DC8C-4400-AA0C-5EFDB28FBAE8}"/>
              </a:ext>
            </a:extLst>
          </p:cNvPr>
          <p:cNvGraphicFramePr/>
          <p:nvPr/>
        </p:nvGraphicFramePr>
        <p:xfrm>
          <a:off xmlns:a="http://schemas.openxmlformats.org/drawingml/2006/main" x="274320" y="2240280"/>
          <a:ext xmlns:a="http://schemas.openxmlformats.org/drawingml/2006/main" cx="26517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Stürzen und Stolpern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Handwerkzeuge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Maschinen und Anlagen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Fahrzeuge und Verkehrswege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Enge Räume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Arbeiten in der Höhe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Elektrosicherheit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1">
            <a:extLst xmlns:a="http://schemas.openxmlformats.org/drawingml/2006/main">
              <a:ext uri="{FF2B5EF4-FFF2-40B4-BE49-F238E27FC236}">
                <a16:creationId xmlns:a16="http://schemas.microsoft.com/office/drawing/2014/main" id="{CD163C1F-87B9-40F1-ABD7-7A4CF8124DE2}"/>
              </a:ext>
            </a:extLst>
          </p:cNvPr>
          <p:cNvGraphicFramePr/>
          <p:nvPr/>
        </p:nvGraphicFramePr>
        <p:xfrm>
          <a:off xmlns:a="http://schemas.openxmlformats.org/drawingml/2006/main" x="3246120" y="2240280"/>
          <a:ext xmlns:a="http://schemas.openxmlformats.org/drawingml/2006/main" cx="26517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Lärm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Staub / Schweissrauch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Chemikalien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Ergonomie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Hautschutz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Stress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">
            <a:extLst xmlns:a="http://schemas.openxmlformats.org/drawingml/2006/main">
              <a:ext uri="{FF2B5EF4-FFF2-40B4-BE49-F238E27FC236}">
                <a16:creationId xmlns:a16="http://schemas.microsoft.com/office/drawing/2014/main" id="{512D7696-718F-4ED4-B31F-72FF2C03B830}"/>
              </a:ext>
            </a:extLst>
          </p:cNvPr>
          <p:cNvGraphicFramePr/>
          <p:nvPr/>
        </p:nvGraphicFramePr>
        <p:xfrm>
          <a:off xmlns:a="http://schemas.openxmlformats.org/drawingml/2006/main" x="6217920" y="2240280"/>
          <a:ext xmlns:a="http://schemas.openxmlformats.org/drawingml/2006/main" cx="26517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Ereignisbehandlung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Sicherheitsgespräche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Gefährdungsermittlung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Ausbildung und Kommunikation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Arbeitsfreigabe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Fremdfirmen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38100" marB="381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sp>
        <p:nvSpPr>
          <p:cNvPr id="24" name="Shape 16">
            <a:extLst xmlns:a="http://schemas.openxmlformats.org/drawingml/2006/main">
              <a:ext uri="{FF2B5EF4-FFF2-40B4-BE49-F238E27FC236}">
                <a16:creationId xmlns:a16="http://schemas.microsoft.com/office/drawing/2014/main" id="{2D2EB04E-DA53-4A21-BF72-5F0A829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00600"/>
            <a:ext cx="859536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3"/>
          </a:solidFill>
        </p:spPr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B2E92615-5F8C-4F1D-8D49-0BDE41FE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822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Ergebnisse: Unfallzahl, Ausfalltage pro Unfall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Prävention: Sicherheitsgespräche pro Führungskraft, Meldungen von Beinaheunfällen und unsicheren Situationen, Auditbefunde</a:t>
            </a:r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146A86B4-01CB-43AF-A560-8BBDB401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AAAAAA"/>
                </a:solidFill>
                <a:latin typeface="Arial"/>
                <a:ea typeface="Arial"/>
                <a:cs typeface="Arial"/>
              </a:rPr>
              <a:t>VUV Art. 3–10, UVG Art. 82, EKAS-Richtlinie 6508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679696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87DAB8-CAA4-4960-9EDA-0762068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91A64F-AB63-4DC2-B713-9A520F0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Aufbau des Arbeitsplans</a:t>
            </a:r>
            <a:endParaRPr sz="2200"/>
          </a:p>
        </p:txBody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018DCA6E-F24A-4E94-B7AB-821D5C23DCA8}"/>
              </a:ext>
            </a:extLst>
          </p:cNvPr>
          <p:cNvGraphicFramePr/>
          <p:nvPr/>
        </p:nvGraphicFramePr>
        <p:xfrm>
          <a:off xmlns:a="http://schemas.openxmlformats.org/drawingml/2006/main" x="457200" y="82296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Spalte</a:t>
                      </a:r>
                      <a:endParaRPr sz="1100"/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C0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Inhalt</a:t>
                      </a:r>
                      <a:endParaRPr sz="1100"/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C04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A: Thema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Gefährdungen und Führungsprozesse aus dem Sicherheitsplan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B: Exponierte Personen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Exponierte Personen im Blatt «Exposition» erfassen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C: Expositionshäufigkeit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Hoch / Mittel / Tief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D: Schadensausmass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Folgen eines Unfalls oder einer Gesundheitsschädigung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E: Risiko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Exposition und Schadensausmass im Blatt «Risikomatrix» beurteilen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F: Massnahmen / Schutzziel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Schutzmassnahmen oder Schutzziele (STOP-Prinzip)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G+: Quartalsmassnahmen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Konkrete Massnahmen pro Quartal planen. Erledigte Zellen grün färben.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50800" marB="50800">
                    <a:lnL w="6350" cmpd="sng">
                      <a:solidFill>
                        <a:srgbClr val="D9D9D9"/>
                      </a:solidFill>
                      <a:prstDash val="solid"/>
                    </a:lnL>
                    <a:lnR w="6350" cmpd="sng">
                      <a:solidFill>
                        <a:srgbClr val="D9D9D9"/>
                      </a:solidFill>
                      <a:prstDash val="solid"/>
                    </a:lnR>
                    <a:lnT w="6350" cmpd="sng">
                      <a:solidFill>
                        <a:srgbClr val="D9D9D9"/>
                      </a:solidFill>
                      <a:prstDash val="solid"/>
                    </a:lnT>
                    <a:lnB w="6350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6603A37-A38E-456B-B307-8D9F5285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822960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D4B899-2397-4A9F-AB7E-4D7928D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STOP-Prinzip für Schutzmassnahmen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0D15A4-5DC9-406D-95A8-DA4C051F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4E1A"/>
                </a:solidFill>
                <a:latin typeface="Arial"/>
                <a:ea typeface="Arial"/>
                <a:cs typeface="Arial"/>
              </a:rPr>
              <a:t>S: Gefahr ersetzen oder beseitigen    T: Technische Massnahmen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4E1A"/>
                </a:solidFill>
                <a:latin typeface="Arial"/>
                <a:ea typeface="Arial"/>
                <a:cs typeface="Arial"/>
              </a:rPr>
              <a:t>O: Organisatorische Massnahmen    P: Persönliche Schutzausrüstung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6F8E462-7812-4553-BB16-49C47B9D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93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4FB8C4"/>
                </a:solidFill>
                <a:latin typeface="Arial"/>
                <a:ea typeface="Arial"/>
                <a:cs typeface="Arial"/>
              </a:rPr>
              <a:t>Detaillierter Arbeitsplan: Template_Safety_Roadmap_DE.xlsx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757369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2026-10-12T10:46:02.3320000Z</dcterms:created>
  <dcterms:modified xsi:type="dcterms:W3CDTF">2026-10-12T10:46:02.3320000Z</dcterms:modified>
</coreProperties>
</file>